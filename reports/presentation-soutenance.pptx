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ADCFC"/>
                </a:solidFill>
                <a:latin typeface="Calibri"/>
              </a:rPr>
              <a:t>AUDIT DE SÉCURITÉ APPLICATIVE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OWASP Juice Shop : identification, remédiation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et automatisation DevSecOps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Examen final — Sécurité des données · Licence 3 Cybersécurité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Ibrahima Lo — Cybersecurity Analyst / Junior DevSecOps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ADCFC"/>
                </a:solidFill>
                <a:latin typeface="Calibri"/>
              </a:rPr>
              <a:t>Une démarche d'audit</a:t>
            </a:r>
          </a:p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ADCFC"/>
                </a:solidFill>
                <a:latin typeface="Calibri"/>
              </a:rPr>
              <a:t>complète : identifier,</a:t>
            </a:r>
          </a:p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ADCFC"/>
                </a:solidFill>
                <a:latin typeface="Calibri"/>
              </a:rPr>
              <a:t>prioriser, corriger,</a:t>
            </a:r>
          </a:p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ADCFC"/>
                </a:solidFill>
                <a:latin typeface="Calibri"/>
              </a:rPr>
              <a:t>automatiser, décider.</a:t>
            </a:r>
          </a:p>
        </p:txBody>
      </p:sp>
      <p:sp>
        <p:nvSpPr>
          <p:cNvPr id="6" name="Oval 5"/>
          <p:cNvSpPr/>
          <p:nvPr/>
        </p:nvSpPr>
        <p:spPr>
          <a:xfrm>
            <a:off x="4297680" y="64008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64008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658368"/>
            <a:ext cx="6675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2263A"/>
                </a:solidFill>
                <a:latin typeface="Calibri"/>
              </a:rPr>
              <a:t>Contexte et scénario</a:t>
            </a:r>
          </a:p>
        </p:txBody>
      </p:sp>
      <p:sp>
        <p:nvSpPr>
          <p:cNvPr id="9" name="Oval 8"/>
          <p:cNvSpPr/>
          <p:nvPr/>
        </p:nvSpPr>
        <p:spPr>
          <a:xfrm>
            <a:off x="4297680" y="1207008"/>
            <a:ext cx="384048" cy="3840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070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225296"/>
            <a:ext cx="6675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2263A"/>
                </a:solidFill>
                <a:latin typeface="Calibri"/>
              </a:rPr>
              <a:t>Méthodologie</a:t>
            </a:r>
          </a:p>
        </p:txBody>
      </p:sp>
      <p:sp>
        <p:nvSpPr>
          <p:cNvPr id="12" name="Oval 11"/>
          <p:cNvSpPr/>
          <p:nvPr/>
        </p:nvSpPr>
        <p:spPr>
          <a:xfrm>
            <a:off x="4297680" y="1773936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77393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792224"/>
            <a:ext cx="6675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2263A"/>
                </a:solidFill>
                <a:latin typeface="Calibri"/>
              </a:rPr>
              <a:t>Vulnérabilités identifiées (V1–V6)</a:t>
            </a:r>
          </a:p>
        </p:txBody>
      </p:sp>
      <p:sp>
        <p:nvSpPr>
          <p:cNvPr id="15" name="Oval 14"/>
          <p:cNvSpPr/>
          <p:nvPr/>
        </p:nvSpPr>
        <p:spPr>
          <a:xfrm>
            <a:off x="4297680" y="2340864"/>
            <a:ext cx="384048" cy="3840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34086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59152"/>
            <a:ext cx="6675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2263A"/>
                </a:solidFill>
                <a:latin typeface="Calibri"/>
              </a:rPr>
              <a:t>Analyse d'impact CWE / CIA</a:t>
            </a:r>
          </a:p>
        </p:txBody>
      </p:sp>
      <p:sp>
        <p:nvSpPr>
          <p:cNvPr id="18" name="Oval 17"/>
          <p:cNvSpPr/>
          <p:nvPr/>
        </p:nvSpPr>
        <p:spPr>
          <a:xfrm>
            <a:off x="4297680" y="290779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90779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926080"/>
            <a:ext cx="6675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2263A"/>
                </a:solidFill>
                <a:latin typeface="Calibri"/>
              </a:rPr>
              <a:t>Remédiation et vérification</a:t>
            </a:r>
          </a:p>
        </p:txBody>
      </p:sp>
      <p:sp>
        <p:nvSpPr>
          <p:cNvPr id="21" name="Oval 20"/>
          <p:cNvSpPr/>
          <p:nvPr/>
        </p:nvSpPr>
        <p:spPr>
          <a:xfrm>
            <a:off x="4297680" y="3474720"/>
            <a:ext cx="384048" cy="3840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47472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E2761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493008"/>
            <a:ext cx="6675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2263A"/>
                </a:solidFill>
                <a:latin typeface="Calibri"/>
              </a:rPr>
              <a:t>Pipeline Jenkins DevSecOps</a:t>
            </a:r>
          </a:p>
        </p:txBody>
      </p:sp>
      <p:sp>
        <p:nvSpPr>
          <p:cNvPr id="24" name="Oval 23"/>
          <p:cNvSpPr/>
          <p:nvPr/>
        </p:nvSpPr>
        <p:spPr>
          <a:xfrm>
            <a:off x="4297680" y="404164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041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059936"/>
            <a:ext cx="6675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2263A"/>
                </a:solidFill>
                <a:latin typeface="Calibri"/>
              </a:rPr>
              <a:t>Résultats avant / après</a:t>
            </a:r>
          </a:p>
        </p:txBody>
      </p:sp>
      <p:sp>
        <p:nvSpPr>
          <p:cNvPr id="27" name="Oval 26"/>
          <p:cNvSpPr/>
          <p:nvPr/>
        </p:nvSpPr>
        <p:spPr>
          <a:xfrm>
            <a:off x="4297680" y="4608576"/>
            <a:ext cx="384048" cy="3840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6085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E2761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26864"/>
            <a:ext cx="6675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2263A"/>
                </a:solidFill>
                <a:latin typeface="Calibri"/>
              </a:rPr>
              <a:t>Décision de déploiement</a:t>
            </a:r>
          </a:p>
        </p:txBody>
      </p:sp>
      <p:sp>
        <p:nvSpPr>
          <p:cNvPr id="30" name="Oval 29"/>
          <p:cNvSpPr/>
          <p:nvPr/>
        </p:nvSpPr>
        <p:spPr>
          <a:xfrm>
            <a:off x="4297680" y="5175504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517550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193792"/>
            <a:ext cx="6675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2263A"/>
                </a:solidFill>
                <a:latin typeface="Calibri"/>
              </a:rPr>
              <a:t>Analyse critique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Calibri"/>
              </a:rPr>
              <a:t>Examen final — Sécurité des données — Ibrahima Lo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Contexte et scénario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6949440" cy="420624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La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6309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63A"/>
                </a:solidFill>
                <a:latin typeface="Calibri"/>
              </a:rPr>
              <a:t>Une organisation prépare la mise en production d'une application web permettant la création de compte, l'authentification et l'accès à des ressources contenant des données sensibles (produits, paniers, commandes, profils).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63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63A"/>
                </a:solidFill>
                <a:latin typeface="Calibri"/>
              </a:rPr>
              <a:t>Rôle confié : Cybersecurity Analyst / Junior DevSecOps Engineer — évaluer la sécurité, analyser les risques, corriger, puis intégrer des contrôles automatisés avant toute décision de déploiement.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234440"/>
            <a:ext cx="3886200" cy="4206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ADCFC"/>
                </a:solidFill>
                <a:latin typeface="Calibri"/>
              </a:rPr>
              <a:t>Application 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OWASP Juice 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514600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Clone local, patché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Déployée via Docker Desktop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Auditée en conditions réelles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(machine physique, 8 Go RAM)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Pipeline CI/CD Jenkins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Calibri"/>
              </a:rPr>
              <a:t>Examen final — Sécurité des données — Ibrahima 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Méthodologie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727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Revue manuelle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63A"/>
                </a:solidFill>
                <a:latin typeface="Calibri"/>
              </a:rPr>
              <a:t>Lecture ciblée du code : authentification, panier, module de sécurité, frontend Angular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1600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5727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SAST — Semgrep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63A"/>
                </a:solidFill>
                <a:latin typeface="Calibri"/>
              </a:rPr>
              <a:t>Règles OWASP Top 10 / JS / TS sur l'ensemble du code 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8200" y="1600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6002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5727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SCA — Trivy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4884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63A"/>
                </a:solidFill>
                <a:latin typeface="Calibri"/>
              </a:rPr>
              <a:t>Analyse des dépendances npm (package-lock.json) pour les CVE connues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6616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6732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Secrets — Gitleaks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4340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63A"/>
                </a:solidFill>
                <a:latin typeface="Calibri"/>
              </a:rPr>
              <a:t>Recherche de clés, tokens et mots de passe codés en dur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56616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17720" y="3794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7947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76732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DAST — OWASP ZAP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34340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63A"/>
                </a:solidFill>
                <a:latin typeface="Calibri"/>
              </a:rPr>
              <a:t>Scan dynamique de l'application en fonctionnement (baseline)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56616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58200" y="3794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37947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76732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Analyse 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34340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63A"/>
                </a:solidFill>
                <a:latin typeface="Calibri"/>
              </a:rPr>
              <a:t>Confidentialité / Intégrité / Disponibilité pour chaque vulnérabilité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Calibri"/>
              </a:rPr>
              <a:t>Examen final — Sécurité des données — Ibrahima 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6 vulnérabilités identifiées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64008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280160"/>
            <a:ext cx="32004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280160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Vulnérabilité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80160"/>
            <a:ext cx="32004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80160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Composant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280160"/>
            <a:ext cx="146304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280160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CWE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280160"/>
            <a:ext cx="173736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28016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10241280" cy="713232"/>
          </a:xfrm>
          <a:prstGeom prst="rect">
            <a:avLst/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737360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63A"/>
                </a:solidFill>
                <a:latin typeface="Calibri"/>
              </a:rPr>
              <a:t>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1737360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SQL Injection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737360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routes/login.ts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737360"/>
            <a:ext cx="1280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CWE-89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1938528"/>
            <a:ext cx="1005840" cy="292608"/>
          </a:xfrm>
          <a:prstGeom prst="roundRect">
            <a:avLst>
              <a:gd name="adj" fmla="val 6000"/>
            </a:avLst>
          </a:prstGeom>
          <a:solidFill>
            <a:srgbClr val="C0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450592"/>
            <a:ext cx="10241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450592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63A"/>
                </a:solidFill>
                <a:latin typeface="Calibri"/>
              </a:rPr>
              <a:t>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450592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XSS (DOM-based)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450592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search-result.component.ts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450592"/>
            <a:ext cx="1280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CWE-79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2651760"/>
            <a:ext cx="1005840" cy="292608"/>
          </a:xfrm>
          <a:prstGeom prst="roundRect">
            <a:avLst>
              <a:gd name="adj" fmla="val 6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163824"/>
            <a:ext cx="10241280" cy="713232"/>
          </a:xfrm>
          <a:prstGeom prst="rect">
            <a:avLst/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163824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63A"/>
                </a:solidFill>
                <a:latin typeface="Calibri"/>
              </a:rPr>
              <a:t>V3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163824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Broken Access Control (IDOR)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163824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routes/basket.ts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163824"/>
            <a:ext cx="1280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CWE-639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72600" y="3364992"/>
            <a:ext cx="1005840" cy="292608"/>
          </a:xfrm>
          <a:prstGeom prst="roundRect">
            <a:avLst>
              <a:gd name="adj" fmla="val 6000"/>
            </a:avLst>
          </a:prstGeom>
          <a:solidFill>
            <a:srgbClr val="C0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877056"/>
            <a:ext cx="10241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877056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63A"/>
                </a:solidFill>
                <a:latin typeface="Calibri"/>
              </a:rPr>
              <a:t>V4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877056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Secret codé en dur (clé JWT)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877056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lib/insecurity.ts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3877056"/>
            <a:ext cx="1280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CWE-798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4078224"/>
            <a:ext cx="1005840" cy="292608"/>
          </a:xfrm>
          <a:prstGeom prst="roundRect">
            <a:avLst>
              <a:gd name="adj" fmla="val 6000"/>
            </a:avLst>
          </a:prstGeom>
          <a:solidFill>
            <a:srgbClr val="C0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90288"/>
            <a:ext cx="10241280" cy="713232"/>
          </a:xfrm>
          <a:prstGeom prst="rect">
            <a:avLst/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590288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63A"/>
                </a:solidFill>
                <a:latin typeface="Calibri"/>
              </a:rPr>
              <a:t>V5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590288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Hash mot de passe faible (MD5)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590288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lib/insecurity.ts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590288"/>
            <a:ext cx="1280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CWE-916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72600" y="4791456"/>
            <a:ext cx="1005840" cy="292608"/>
          </a:xfrm>
          <a:prstGeom prst="roundRect">
            <a:avLst>
              <a:gd name="adj" fmla="val 6000"/>
            </a:avLst>
          </a:prstGeom>
          <a:solidFill>
            <a:srgbClr val="D8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303520"/>
            <a:ext cx="102412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303520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63A"/>
                </a:solidFill>
                <a:latin typeface="Calibri"/>
              </a:rPr>
              <a:t>V6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5303520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Dépendances vulnérables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5303520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package.json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303520"/>
            <a:ext cx="1280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2263A"/>
                </a:solidFill>
                <a:latin typeface="Calibri"/>
              </a:rPr>
              <a:t>CWE-1104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72600" y="5504688"/>
            <a:ext cx="1005840" cy="292608"/>
          </a:xfrm>
          <a:prstGeom prst="roundRect">
            <a:avLst>
              <a:gd name="adj" fmla="val 6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Calibri"/>
              </a:rPr>
              <a:t>Examen final — Sécurité des données — Ibrahima Lo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Impact sur la sécurité des données (CIA)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Confidentialité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5 / 6 vulnérabilités permettent un accès non autorisé aux données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08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Intégrité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3 / 6 permettent une modification non autorisée des données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28016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Disponibilité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Impact indirect (requêtes malformées, comptes admin forgés)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mbria"/>
              </a:rPr>
              <a:t>Criticité et priorité de correction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C01E2B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63A"/>
                </a:solidFill>
                <a:latin typeface="Calibri"/>
              </a:rPr>
              <a:t>vulnérabilités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63A"/>
                </a:solidFill>
                <a:latin typeface="Calibri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4805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07A1F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40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63A"/>
                </a:solidFill>
                <a:latin typeface="Calibri"/>
              </a:rPr>
              <a:t>vulnérabilités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63A"/>
                </a:solidFill>
                <a:latin typeface="Calibri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4805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D8A300"/>
                </a:solidFill>
                <a:latin typeface="Cambria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440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63A"/>
                </a:solidFill>
                <a:latin typeface="Calibri"/>
              </a:rPr>
              <a:t>vulnérabilité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63A"/>
                </a:solidFill>
                <a:latin typeface="Calibri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4805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22263A"/>
                </a:solidFill>
                <a:latin typeface="Calibri"/>
              </a:rPr>
              <a:t>V1, V3 et V4 permettent chacune, seules, une compromission totale des données sans privilège préalable → correction immédiate obligatoire avant toute mise en production.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Calibri"/>
              </a:rPr>
              <a:t>Examen final — Sécurité des données — Ibrahima 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Remédiation : 3 correctifs critiques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10512"/>
            <a:ext cx="365760" cy="365760"/>
          </a:xfrm>
          <a:prstGeom prst="ellipse">
            <a:avLst/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89888"/>
            <a:ext cx="2743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mbria"/>
              </a:rPr>
              <a:t>V1 — SQL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417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E"/>
                </a:solidFill>
                <a:latin typeface="Calibri"/>
              </a:rPr>
              <a:t>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737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63A"/>
                </a:solidFill>
                <a:latin typeface="Calibri"/>
              </a:rPr>
              <a:t>Concaténation de chaînes dans la requête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417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E"/>
                </a:solidFill>
                <a:latin typeface="Calibri"/>
              </a:rPr>
              <a:t>Correction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737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63A"/>
                </a:solidFill>
                <a:latin typeface="Calibri"/>
              </a:rPr>
              <a:t>Requête paramétrée (Sequelize `replacements`)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8036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410712"/>
            <a:ext cx="365760" cy="365760"/>
          </a:xfrm>
          <a:prstGeom prst="ellipse">
            <a:avLst/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1071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90088"/>
            <a:ext cx="2743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mbria"/>
              </a:rPr>
              <a:t>V3 — IDOR (panier)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017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E"/>
                </a:solidFill>
                <a:latin typeface="Calibri"/>
              </a:rPr>
              <a:t>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37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63A"/>
                </a:solidFill>
                <a:latin typeface="Calibri"/>
              </a:rPr>
              <a:t>Aucune vérification que le panier appartient à l'utilisateur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E"/>
                </a:solidFill>
                <a:latin typeface="Calibri"/>
              </a:rPr>
              <a:t>Correction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3375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63A"/>
                </a:solidFill>
                <a:latin typeface="Calibri"/>
              </a:rPr>
              <a:t>Contrôle serveur : id demandé == bid du token, sinon 403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8056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5010912"/>
            <a:ext cx="365760" cy="365760"/>
          </a:xfrm>
          <a:prstGeom prst="ellipse">
            <a:avLst/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1091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590288"/>
            <a:ext cx="2743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mbria"/>
              </a:rPr>
              <a:t>V4 — Secret JWT codé en dur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6177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E"/>
                </a:solidFill>
                <a:latin typeface="Calibri"/>
              </a:rP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937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63A"/>
                </a:solidFill>
                <a:latin typeface="Calibri"/>
              </a:rPr>
              <a:t>Clé privée RSA en clair, versionnée dans le dépôt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617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E"/>
                </a:solidFill>
                <a:latin typeface="Calibri"/>
              </a:rPr>
              <a:t>Correction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9377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63A"/>
                </a:solidFill>
                <a:latin typeface="Calibri"/>
              </a:rPr>
              <a:t>Rotation de clé + chargement depuis un fichier exclu de Git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Calibri"/>
              </a:rPr>
              <a:t>Examen final — Sécurité des données — Ibrahima 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Vérification : avant / après correction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242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ADCFC"/>
                </a:solidFill>
                <a:latin typeface="Cambria"/>
              </a:rPr>
              <a:t>Semgrep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88A8A"/>
                </a:solidFill>
                <a:latin typeface="Cambri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8CE0B0"/>
                </a:solidFill>
                <a:latin typeface="Cambria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242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ADCFC"/>
                </a:solidFill>
                <a:latin typeface="Cambria"/>
              </a:rPr>
              <a:t>Gitleaks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88A8A"/>
                </a:solidFill>
                <a:latin typeface="Cambria"/>
              </a:rPr>
              <a:t>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8CE0B0"/>
                </a:solidFill>
                <a:latin typeface="Cambria"/>
              </a:rPr>
              <a:t>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secrets détectés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11064240" cy="2377440"/>
          </a:xfrm>
          <a:prstGeom prst="roundRect">
            <a:avLst>
              <a:gd name="adj" fmla="val 6000"/>
            </a:avLst>
          </a:prstGeom>
          <a:solidFill>
            <a:srgbClr val="242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mbria"/>
              </a:rPr>
              <a:t>Tests manuels en direct (logique métier — non couverte par les outils)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SQLi (V1)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Payload ' OR 1=1-- réussissait avant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correction → échoue désormais.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434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IDOR (V3)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fetch('/rest/basket/2') renvoyait le panier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d'un autre utilisateur → 403 Forbidden désormais.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2E8"/>
                </a:solidFill>
                <a:latin typeface="Calibri"/>
              </a:rPr>
              <a:t>Examen final — Sécurité des données — Ibrahima 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8C2E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Pipeline Jenkins DevSecOps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691640" cy="11887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63040"/>
            <a:ext cx="1545336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Checkout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463040"/>
            <a:ext cx="1828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463040"/>
            <a:ext cx="1691640" cy="1188720"/>
          </a:xfrm>
          <a:prstGeom prst="roundRect">
            <a:avLst>
              <a:gd name="adj" fmla="val 6000"/>
            </a:avLst>
          </a:prstGeom>
          <a:solidFill>
            <a:srgbClr val="2E3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96312" y="1463040"/>
            <a:ext cx="1545336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Build /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63040"/>
            <a:ext cx="1828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1691640" cy="11887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463040"/>
            <a:ext cx="1545336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Security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463040"/>
            <a:ext cx="1828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1691640" cy="1188720"/>
          </a:xfrm>
          <a:prstGeom prst="roundRect">
            <a:avLst>
              <a:gd name="adj" fmla="val 6000"/>
            </a:avLst>
          </a:prstGeom>
          <a:solidFill>
            <a:srgbClr val="2E3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463040"/>
            <a:ext cx="1545336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DAST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(ZAP)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463040"/>
            <a:ext cx="1828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1691640" cy="11887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1463040"/>
            <a:ext cx="1545336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Report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1463040"/>
            <a:ext cx="1828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1463040"/>
            <a:ext cx="1691640" cy="1188720"/>
          </a:xfrm>
          <a:prstGeom prst="roundRect">
            <a:avLst>
              <a:gd name="adj" fmla="val 6000"/>
            </a:avLst>
          </a:prstGeom>
          <a:solidFill>
            <a:srgbClr val="2E3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4392" y="1463040"/>
            <a:ext cx="1545336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Notification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E"/>
                </a:solidFill>
                <a:latin typeface="Calibri"/>
              </a:rPr>
              <a:t>3 scanners au stage Security Analysis (séquentiel — contrainte mémoire de la machine)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118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794760"/>
            <a:ext cx="1005840" cy="29260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Semgrep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63A"/>
                </a:solidFill>
                <a:latin typeface="Calibri"/>
              </a:rPr>
              <a:t>Injections, API dangereuses (innerHTML, eval)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6118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3794760"/>
            <a:ext cx="1005840" cy="29260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2062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Trivy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6177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63A"/>
                </a:solidFill>
                <a:latin typeface="Calibri"/>
              </a:rPr>
              <a:t>CVE connues dans les dépendances npm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6118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3794760"/>
            <a:ext cx="1005840" cy="29260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Secrets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2062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Gitleaks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6177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63A"/>
                </a:solidFill>
                <a:latin typeface="Calibri"/>
              </a:rPr>
              <a:t>Clés API, tokens, mots de passe codés en dur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36118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35440" y="3794760"/>
            <a:ext cx="1005840" cy="29260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2062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OWASP ZAP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6177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63A"/>
                </a:solidFill>
                <a:latin typeface="Calibri"/>
              </a:rPr>
              <a:t>En-têtes manquants, config HTTP, XSS reflété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Calibri"/>
              </a:rPr>
              <a:t>Examen final — Sécurité des données — Ibrahima 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Résultats du pipeline (après remédiation)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Semgrep (SAST)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371600"/>
            <a:ext cx="7315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2263A"/>
                </a:solidFill>
                <a:latin typeface="Calibri"/>
              </a:rPr>
              <a:t>7 findings (2 error / 5 warning)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Trivy (SCA)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48840"/>
            <a:ext cx="7315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2263A"/>
                </a:solidFill>
                <a:latin typeface="Calibri"/>
              </a:rPr>
              <a:t>8 critical / 45 high / 33 medium / 6 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11064240" cy="777240"/>
          </a:xfrm>
          <a:prstGeom prst="rect">
            <a:avLst/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Gitleaks (secrets)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926080"/>
            <a:ext cx="7315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2263A"/>
                </a:solidFill>
                <a:latin typeface="Calibri"/>
              </a:rPr>
              <a:t>66 secrets détectés (essentiellement des faux positifs de test)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OWASP ZAP (DAST)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703320"/>
            <a:ext cx="7315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2263A"/>
                </a:solidFill>
                <a:latin typeface="Calibri"/>
              </a:rPr>
              <a:t>Medium: 2, Low: 5, Informational: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mbria"/>
              </a:rPr>
              <a:t>Classement par priorité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66360"/>
            <a:ext cx="1689811" cy="457200"/>
          </a:xfrm>
          <a:prstGeom prst="roundRect">
            <a:avLst>
              <a:gd name="adj" fmla="val 6000"/>
            </a:avLst>
          </a:prstGeom>
          <a:solidFill>
            <a:srgbClr val="C0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SQLi — Bloquer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5611" y="5166360"/>
            <a:ext cx="1689811" cy="457200"/>
          </a:xfrm>
          <a:prstGeom prst="roundRect">
            <a:avLst>
              <a:gd name="adj" fmla="val 6000"/>
            </a:avLst>
          </a:prstGeom>
          <a:solidFill>
            <a:srgbClr val="C0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IDOR — Bloquer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2582" y="5166360"/>
            <a:ext cx="1865376" cy="457200"/>
          </a:xfrm>
          <a:prstGeom prst="roundRect">
            <a:avLst>
              <a:gd name="adj" fmla="val 6000"/>
            </a:avLst>
          </a:prstGeom>
          <a:solidFill>
            <a:srgbClr val="C0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Secret JWT — Bloquer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5118" y="5166360"/>
            <a:ext cx="1631289" cy="457200"/>
          </a:xfrm>
          <a:prstGeom prst="roundRect">
            <a:avLst>
              <a:gd name="adj" fmla="val 6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XSS — Requis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7" y="5166360"/>
            <a:ext cx="1865376" cy="457200"/>
          </a:xfrm>
          <a:prstGeom prst="roundRect">
            <a:avLst>
              <a:gd name="adj" fmla="val 6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Dépendances — Requis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76103" y="5166360"/>
            <a:ext cx="1836115" cy="457200"/>
          </a:xfrm>
          <a:prstGeom prst="roundRect">
            <a:avLst>
              <a:gd name="adj" fmla="val 6000"/>
            </a:avLst>
          </a:prstGeom>
          <a:solidFill>
            <a:srgbClr val="D8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Hash MD5 — Planifié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Calibri"/>
              </a:rPr>
              <a:t>Examen final — Sécurité des données — Ibrahima 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Décision de déploiement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C0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AVANT remédiation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Reject</a:t>
            </a:r>
          </a:p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APRÈS remédiation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Accept with</a:t>
            </a:r>
          </a:p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Trois vulnérabilités critiques (V1, V3, V4) permettaient une compromission totale de la confidentialité et de l'intégrité des données sans privilège préalable — un déploiement en l'état aurait exposé l'organisation à une fuite massive et à une usurpation de compte administrateur.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Après correction et vérification, ces risques sont neutralisés. Les vulnérabilités restantes (V2, V5, V6) sont acceptables temporairement, à condition d'être planifiées et corrigées, avec un contrôle de non-régression assuré par le pipeline Jenkins.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2E8"/>
                </a:solidFill>
                <a:latin typeface="Calibri"/>
              </a:rPr>
              <a:t>Examen final — Sécurité des données — Ibrahima 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8C2E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Analyse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28E"/>
                </a:solidFill>
                <a:latin typeface="Calibri"/>
              </a:rPr>
              <a:t>Un outil de sécurité qui ne détecte aucune vulnérabilité peut-il garantir qu'une application est sécurisée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35915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591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04288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mbria"/>
              </a:rPr>
              <a:t>Faux négatifs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63A"/>
                </a:solidFill>
                <a:latin typeface="Calibri"/>
              </a:rPr>
              <a:t>Chaque outil ne détecte que ce que ses règles couvrent — l'IDOR (V3) n'aurait jamais été trouvée par Semgrep seul : c'est un défaut de logique métier.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35915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591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304288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mbria"/>
              </a:rPr>
              <a:t>Faux positifs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718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63A"/>
                </a:solidFill>
                <a:latin typeface="Calibri"/>
              </a:rPr>
              <a:t>Une configuration trop permissive ou mal calée masque de vrais problèmes et génère de l'« alert fatigue » (ex. les ~66 alertes Gitleaks sur des données de test).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6052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41655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165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61688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mbria"/>
              </a:rPr>
              <a:t>Couverture limitée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63A"/>
                </a:solidFill>
                <a:latin typeface="Calibri"/>
              </a:rPr>
              <a:t>Un SAST/DAST/SCA couvre des catégories connues (OWASP Top 10, CWE) — la surface de risque réelle d'une application les dépasse toujours.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6052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41655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4165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361688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mbria"/>
              </a:rPr>
              <a:t>Analyse humaine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0292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63A"/>
                </a:solidFill>
                <a:latin typeface="Calibri"/>
              </a:rPr>
              <a:t>Le pipeline automatisé garantit la reproductibilité et empêche la régression, mais doit être complété par une revue de code et une analyse de risques ciblée.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E"/>
                </a:solidFill>
                <a:latin typeface="Calibri"/>
              </a:rPr>
              <a:t>Examen final — Sécurité des données — Ibrahima 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74520"/>
            <a:ext cx="256032" cy="2560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875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6 vulnérabilités identifiées, couvrant l'OWASP Top 10 (injection, XSS, contrôle d'accès, secrets, cryptographie faible, dépendances vulnérables)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43200"/>
            <a:ext cx="256032" cy="2560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9875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3 corrections critiques appliquées et vérifiées, par outil ET par test manuel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611880"/>
            <a:ext cx="256032" cy="2560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9875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Pipeline Jenkins opérationnel : SAST + SCA + Secret Detection + DAST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480560"/>
            <a:ext cx="256032" cy="2560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434840"/>
            <a:ext cx="9875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Un audit ponctuel devient un garde-fou continu contre la régression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349240"/>
            <a:ext cx="256032" cy="2560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9875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Les outils automatisés réduisent le risque — ils ne remplacent pas le jugement humain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2E8"/>
                </a:solidFill>
                <a:latin typeface="Calibri"/>
              </a:rPr>
              <a:t>Examen final — Sécurité des données — Ibrahima 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8C2E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libri"/>
              </a:rPr>
              <a:t>Questions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06240"/>
            <a:ext cx="10332720" cy="1188720"/>
          </a:xfrm>
          <a:prstGeom prst="roundRect">
            <a:avLst>
              <a:gd name="adj" fmla="val 6000"/>
            </a:avLst>
          </a:prstGeom>
          <a:solidFill>
            <a:srgbClr val="242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438912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Dépôt Git complet (code, pipeline, rapports, preuves)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75488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https://github.com/ibrahima143lo-arch/examen-securite-donnees-ibrahima-lo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2E8"/>
                </a:solidFill>
                <a:latin typeface="Calibri"/>
              </a:rPr>
              <a:t>Examen final — Sécurité des données — Ibrahima 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8C2E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